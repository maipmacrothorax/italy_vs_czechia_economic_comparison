
<file path=[Content_Types].xml><?xml version="1.0" encoding="utf-8"?>
<Types xmlns="http://schemas.openxmlformats.org/package/2006/content-types">
  <Default Extension="jpeg" ContentType="image/jpeg"/>
  <Default Extension="m4a" ContentType="audio/mp4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notesSlides/notesSlide3.xml" ContentType="application/vnd.openxmlformats-officedocument.presentationml.notesSlid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notesSlides/notesSlide4.xml" ContentType="application/vnd.openxmlformats-officedocument.presentationml.notesSlide+xml"/>
  <Override PartName="/ppt/charts/chart3.xml" ContentType="application/vnd.openxmlformats-officedocument.drawingml.chart+xml"/>
  <Override PartName="/ppt/charts/style3.xml" ContentType="application/vnd.ms-office.chartstyle+xml"/>
  <Override PartName="/ppt/charts/colors3.xml" ContentType="application/vnd.ms-office.chartcolorstyle+xml"/>
  <Override PartName="/ppt/notesSlides/notesSlide5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46" r:id="rId1"/>
  </p:sldMasterIdLst>
  <p:notesMasterIdLst>
    <p:notesMasterId r:id="rId7"/>
  </p:notes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B679154-71AB-1649-8D24-3A1F81B3F580}" v="29" dt="2025-11-09T14:32:51.693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–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8771"/>
    <p:restoredTop sz="94676"/>
  </p:normalViewPr>
  <p:slideViewPr>
    <p:cSldViewPr snapToGrid="0">
      <p:cViewPr varScale="1">
        <p:scale>
          <a:sx n="106" d="100"/>
          <a:sy n="106" d="100"/>
        </p:scale>
        <p:origin x="632" y="1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12" Type="http://schemas.microsoft.com/office/2015/10/relationships/revisionInfo" Target="revisionInfo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oleObject" Target="https://vse-my.sharepoint.com/personal/giut00_vse_cz/Documents/EconomicCOMPARISON,%20all%20in%20one.xlsx" TargetMode="External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oleObject" Target="https://vse-my.sharepoint.com/personal/giut00_vse_cz/Documents/EconomicCOMPARISON,%20all%20in%20one.xlsx" TargetMode="External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_rels/chart3.xml.rels><?xml version="1.0" encoding="UTF-8" standalone="yes"?>
<Relationships xmlns="http://schemas.openxmlformats.org/package/2006/relationships"><Relationship Id="rId3" Type="http://schemas.openxmlformats.org/officeDocument/2006/relationships/oleObject" Target="https://vse-my.sharepoint.com/personal/giut00_vse_cz/Documents/EconomicCOMPARISON,%20all%20in%20one.xlsx" TargetMode="External"/><Relationship Id="rId2" Type="http://schemas.microsoft.com/office/2011/relationships/chartColorStyle" Target="colors3.xml"/><Relationship Id="rId1" Type="http://schemas.microsoft.com/office/2011/relationships/chartStyle" Target="style3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GB"/>
  <c:roundedCorners val="0"/>
  <mc:AlternateContent xmlns:mc="http://schemas.openxmlformats.org/markup-compatibility/2006">
    <mc:Choice xmlns:c14="http://schemas.microsoft.com/office/drawing/2007/8/2/chart" Requires="c14">
      <c14:style val="103"/>
    </mc:Choice>
    <mc:Fallback>
      <c:style val="3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GB"/>
              <a:t>Unemployment</a:t>
            </a:r>
            <a:r>
              <a:rPr lang="en-GB" baseline="0"/>
              <a:t> Rate by Age Group - Italy vs Czechia (2023) </a:t>
            </a:r>
            <a:endParaRPr lang="en-GB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GB"/>
        </a:p>
      </c:txPr>
    </c:title>
    <c:autoTitleDeleted val="0"/>
    <c:plotArea>
      <c:layout>
        <c:manualLayout>
          <c:layoutTarget val="inner"/>
          <c:xMode val="edge"/>
          <c:yMode val="edge"/>
          <c:x val="6.1044484080006144E-2"/>
          <c:y val="0.12751714409608642"/>
          <c:w val="0.96279310268629881"/>
          <c:h val="0.78364993438320207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'Unemployment rate'!$B$2</c:f>
              <c:strCache>
                <c:ptCount val="1"/>
                <c:pt idx="0">
                  <c:v>Italy</c:v>
                </c:pt>
              </c:strCache>
            </c:strRef>
          </c:tx>
          <c:spPr>
            <a:solidFill>
              <a:schemeClr val="accent1">
                <a:shade val="76000"/>
              </a:schemeClr>
            </a:solidFill>
            <a:ln>
              <a:noFill/>
            </a:ln>
            <a:effectLst/>
          </c:spPr>
          <c:invertIfNegative val="0"/>
          <c:cat>
            <c:strRef>
              <c:f>'Unemployment rate'!$A$3:$A$5</c:f>
              <c:strCache>
                <c:ptCount val="3"/>
                <c:pt idx="0">
                  <c:v>15-24</c:v>
                </c:pt>
                <c:pt idx="1">
                  <c:v>25-49</c:v>
                </c:pt>
                <c:pt idx="2">
                  <c:v>50-64</c:v>
                </c:pt>
              </c:strCache>
            </c:strRef>
          </c:cat>
          <c:val>
            <c:numRef>
              <c:f>'Unemployment rate'!$B$3:$B$5</c:f>
              <c:numCache>
                <c:formatCode>0%</c:formatCode>
                <c:ptCount val="3"/>
                <c:pt idx="0">
                  <c:v>0.23</c:v>
                </c:pt>
                <c:pt idx="1">
                  <c:v>0.08</c:v>
                </c:pt>
                <c:pt idx="2">
                  <c:v>0.05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113B-0B46-8628-B1EEEB880A1A}"/>
            </c:ext>
          </c:extLst>
        </c:ser>
        <c:ser>
          <c:idx val="1"/>
          <c:order val="1"/>
          <c:tx>
            <c:strRef>
              <c:f>'Unemployment rate'!$C$2</c:f>
              <c:strCache>
                <c:ptCount val="1"/>
                <c:pt idx="0">
                  <c:v>Czechia</c:v>
                </c:pt>
              </c:strCache>
            </c:strRef>
          </c:tx>
          <c:spPr>
            <a:solidFill>
              <a:schemeClr val="accent1">
                <a:tint val="77000"/>
              </a:schemeClr>
            </a:solidFill>
            <a:ln>
              <a:noFill/>
            </a:ln>
            <a:effectLst/>
          </c:spPr>
          <c:invertIfNegative val="0"/>
          <c:cat>
            <c:strRef>
              <c:f>'Unemployment rate'!$A$3:$A$5</c:f>
              <c:strCache>
                <c:ptCount val="3"/>
                <c:pt idx="0">
                  <c:v>15-24</c:v>
                </c:pt>
                <c:pt idx="1">
                  <c:v>25-49</c:v>
                </c:pt>
                <c:pt idx="2">
                  <c:v>50-64</c:v>
                </c:pt>
              </c:strCache>
            </c:strRef>
          </c:cat>
          <c:val>
            <c:numRef>
              <c:f>'Unemployment rate'!$C$3:$C$5</c:f>
              <c:numCache>
                <c:formatCode>0%</c:formatCode>
                <c:ptCount val="3"/>
                <c:pt idx="0">
                  <c:v>0.08</c:v>
                </c:pt>
                <c:pt idx="1">
                  <c:v>0.02</c:v>
                </c:pt>
                <c:pt idx="2">
                  <c:v>0.02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113B-0B46-8628-B1EEEB880A1A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1070083935"/>
        <c:axId val="1070085647"/>
      </c:barChart>
      <c:catAx>
        <c:axId val="1070083935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IT"/>
          </a:p>
        </c:txPr>
        <c:crossAx val="1070085647"/>
        <c:crosses val="autoZero"/>
        <c:auto val="1"/>
        <c:lblAlgn val="ctr"/>
        <c:lblOffset val="100"/>
        <c:noMultiLvlLbl val="0"/>
      </c:catAx>
      <c:valAx>
        <c:axId val="1070085647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0%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IT"/>
          </a:p>
        </c:txPr>
        <c:crossAx val="1070083935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t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IT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IT"/>
    </a:p>
  </c:txPr>
  <c:externalData r:id="rId3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GB"/>
  <c:roundedCorners val="0"/>
  <mc:AlternateContent xmlns:mc="http://schemas.openxmlformats.org/markup-compatibility/2006">
    <mc:Choice xmlns:c14="http://schemas.microsoft.com/office/drawing/2007/8/2/chart" Requires="c14">
      <c14:style val="103"/>
    </mc:Choice>
    <mc:Fallback>
      <c:style val="3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600" b="1" i="0" u="none" strike="noStrike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pPr>
            <a:r>
              <a:rPr lang="en-GB"/>
              <a:t>Poverty gap decomposition - Italy vs Czechia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600" b="1" i="0" u="none" strike="noStrike" kern="1200" baseline="0">
              <a:solidFill>
                <a:schemeClr val="tx2"/>
              </a:solidFill>
              <a:latin typeface="+mn-lt"/>
              <a:ea typeface="+mn-ea"/>
              <a:cs typeface="+mn-cs"/>
            </a:defRPr>
          </a:pPr>
          <a:endParaRPr lang="en-IT"/>
        </a:p>
      </c:txPr>
    </c:title>
    <c:autoTitleDeleted val="0"/>
    <c:plotArea>
      <c:layout>
        <c:manualLayout>
          <c:layoutTarget val="inner"/>
          <c:xMode val="edge"/>
          <c:yMode val="edge"/>
          <c:x val="7.6861620909553605E-2"/>
          <c:y val="0.22086953469597873"/>
          <c:w val="0.90222583156192926"/>
          <c:h val="0.70931614231727724"/>
        </c:manualLayout>
      </c:layout>
      <c:barChart>
        <c:barDir val="col"/>
        <c:grouping val="stacked"/>
        <c:varyColors val="0"/>
        <c:ser>
          <c:idx val="0"/>
          <c:order val="0"/>
          <c:tx>
            <c:strRef>
              <c:f>'At-risk-of-poverty rate'!$N$2</c:f>
              <c:strCache>
                <c:ptCount val="1"/>
                <c:pt idx="0">
                  <c:v>Structure effect</c:v>
                </c:pt>
              </c:strCache>
            </c:strRef>
          </c:tx>
          <c:spPr>
            <a:gradFill rotWithShape="1">
              <a:gsLst>
                <a:gs pos="0">
                  <a:schemeClr val="accent1">
                    <a:shade val="76000"/>
                    <a:satMod val="103000"/>
                    <a:lumMod val="102000"/>
                    <a:tint val="94000"/>
                  </a:schemeClr>
                </a:gs>
                <a:gs pos="50000">
                  <a:schemeClr val="accent1">
                    <a:shade val="76000"/>
                    <a:satMod val="110000"/>
                    <a:lumMod val="100000"/>
                    <a:shade val="100000"/>
                  </a:schemeClr>
                </a:gs>
                <a:gs pos="100000">
                  <a:schemeClr val="accent1">
                    <a:shade val="76000"/>
                    <a:lumMod val="99000"/>
                    <a:satMod val="120000"/>
                    <a:shade val="78000"/>
                  </a:schemeClr>
                </a:gs>
              </a:gsLst>
              <a:lin ang="5400000" scaled="0"/>
            </a:gra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2"/>
                    </a:solidFill>
                    <a:latin typeface="+mn-lt"/>
                    <a:ea typeface="+mn-ea"/>
                    <a:cs typeface="+mn-cs"/>
                  </a:defRPr>
                </a:pPr>
                <a:endParaRPr lang="en-IT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>
                      <a:solidFill>
                        <a:schemeClr val="tx2">
                          <a:lumMod val="35000"/>
                          <a:lumOff val="65000"/>
                        </a:schemeClr>
                      </a:solidFill>
                    </a:ln>
                    <a:effectLst/>
                  </c:spPr>
                </c15:leaderLines>
              </c:ext>
            </c:extLst>
          </c:dLbls>
          <c:cat>
            <c:strRef>
              <c:f>'At-risk-of-poverty rate'!$M$3:$M$4</c:f>
              <c:strCache>
                <c:ptCount val="2"/>
                <c:pt idx="0">
                  <c:v>&lt;18</c:v>
                </c:pt>
                <c:pt idx="1">
                  <c:v>25-54</c:v>
                </c:pt>
              </c:strCache>
            </c:strRef>
          </c:cat>
          <c:val>
            <c:numRef>
              <c:f>'At-risk-of-poverty rate'!$N$3:$N$4</c:f>
              <c:numCache>
                <c:formatCode>0.00%</c:formatCode>
                <c:ptCount val="2"/>
                <c:pt idx="0">
                  <c:v>-1.01E-2</c:v>
                </c:pt>
                <c:pt idx="1">
                  <c:v>-4.1999999999999997E-3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A3EA-D64E-A679-C2DC76337752}"/>
            </c:ext>
          </c:extLst>
        </c:ser>
        <c:ser>
          <c:idx val="1"/>
          <c:order val="1"/>
          <c:tx>
            <c:strRef>
              <c:f>'At-risk-of-poverty rate'!$O$2</c:f>
              <c:strCache>
                <c:ptCount val="1"/>
                <c:pt idx="0">
                  <c:v>Intensity effect</c:v>
                </c:pt>
              </c:strCache>
            </c:strRef>
          </c:tx>
          <c:spPr>
            <a:gradFill rotWithShape="1">
              <a:gsLst>
                <a:gs pos="0">
                  <a:schemeClr val="accent1">
                    <a:tint val="77000"/>
                    <a:satMod val="103000"/>
                    <a:lumMod val="102000"/>
                    <a:tint val="94000"/>
                  </a:schemeClr>
                </a:gs>
                <a:gs pos="50000">
                  <a:schemeClr val="accent1">
                    <a:tint val="77000"/>
                    <a:satMod val="110000"/>
                    <a:lumMod val="100000"/>
                    <a:shade val="100000"/>
                  </a:schemeClr>
                </a:gs>
                <a:gs pos="100000">
                  <a:schemeClr val="accent1">
                    <a:tint val="77000"/>
                    <a:lumMod val="99000"/>
                    <a:satMod val="120000"/>
                    <a:shade val="78000"/>
                  </a:schemeClr>
                </a:gs>
              </a:gsLst>
              <a:lin ang="5400000" scaled="0"/>
            </a:gra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2"/>
                    </a:solidFill>
                    <a:latin typeface="+mn-lt"/>
                    <a:ea typeface="+mn-ea"/>
                    <a:cs typeface="+mn-cs"/>
                  </a:defRPr>
                </a:pPr>
                <a:endParaRPr lang="en-IT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>
                      <a:solidFill>
                        <a:schemeClr val="tx2">
                          <a:lumMod val="35000"/>
                          <a:lumOff val="65000"/>
                        </a:schemeClr>
                      </a:solidFill>
                    </a:ln>
                    <a:effectLst/>
                  </c:spPr>
                </c15:leaderLines>
              </c:ext>
            </c:extLst>
          </c:dLbls>
          <c:cat>
            <c:strRef>
              <c:f>'At-risk-of-poverty rate'!$M$3:$M$4</c:f>
              <c:strCache>
                <c:ptCount val="2"/>
                <c:pt idx="0">
                  <c:v>&lt;18</c:v>
                </c:pt>
                <c:pt idx="1">
                  <c:v>25-54</c:v>
                </c:pt>
              </c:strCache>
            </c:strRef>
          </c:cat>
          <c:val>
            <c:numRef>
              <c:f>'At-risk-of-poverty rate'!$O$3:$O$4</c:f>
              <c:numCache>
                <c:formatCode>0.00%</c:formatCode>
                <c:ptCount val="2"/>
                <c:pt idx="0">
                  <c:v>1.72E-2</c:v>
                </c:pt>
                <c:pt idx="1">
                  <c:v>4.5900000000000003E-2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A3EA-D64E-A679-C2DC76337752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overlap val="100"/>
        <c:axId val="1172882048"/>
        <c:axId val="1109640079"/>
      </c:barChart>
      <c:catAx>
        <c:axId val="1172882048"/>
        <c:scaling>
          <c:orientation val="minMax"/>
        </c:scaling>
        <c:delete val="0"/>
        <c:axPos val="t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2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pPr>
            <a:endParaRPr lang="en-IT"/>
          </a:p>
        </c:txPr>
        <c:crossAx val="1109640079"/>
        <c:crosses val="max"/>
        <c:auto val="1"/>
        <c:lblAlgn val="ctr"/>
        <c:lblOffset val="100"/>
        <c:noMultiLvlLbl val="0"/>
      </c:catAx>
      <c:valAx>
        <c:axId val="1109640079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2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0.00%" sourceLinked="1"/>
        <c:majorTickMark val="none"/>
        <c:minorTickMark val="none"/>
        <c:tickLblPos val="low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pPr>
            <a:endParaRPr lang="en-IT"/>
          </a:p>
        </c:txPr>
        <c:crossAx val="1172882048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2"/>
              </a:solidFill>
              <a:latin typeface="+mn-lt"/>
              <a:ea typeface="+mn-ea"/>
              <a:cs typeface="+mn-cs"/>
            </a:defRPr>
          </a:pPr>
          <a:endParaRPr lang="en-IT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IT"/>
    </a:p>
  </c:txPr>
  <c:externalData r:id="rId3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GB"/>
  <c:roundedCorners val="0"/>
  <mc:AlternateContent xmlns:mc="http://schemas.openxmlformats.org/markup-compatibility/2006">
    <mc:Choice xmlns:c14="http://schemas.microsoft.com/office/drawing/2007/8/2/chart" Requires="c14">
      <c14:style val="103"/>
    </mc:Choice>
    <mc:Fallback>
      <c:style val="3"/>
    </mc:Fallback>
  </mc:AlternateContent>
  <c:chart>
    <c:title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600" b="1" i="0" u="none" strike="noStrike" kern="1200" cap="all" spc="120" normalizeH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IT"/>
        </a:p>
      </c:txPr>
    </c:title>
    <c:autoTitleDeleted val="0"/>
    <c:plotArea>
      <c:layout>
        <c:manualLayout>
          <c:layoutTarget val="inner"/>
          <c:xMode val="edge"/>
          <c:yMode val="edge"/>
          <c:x val="8.8682317669181165E-2"/>
          <c:y val="9.5352232012575686E-2"/>
          <c:w val="0.87652590699692734"/>
          <c:h val="0.7632920806040645"/>
        </c:manualLayout>
      </c:layout>
      <c:lineChart>
        <c:grouping val="standard"/>
        <c:varyColors val="0"/>
        <c:ser>
          <c:idx val="0"/>
          <c:order val="0"/>
          <c:tx>
            <c:strRef>
              <c:f>'Median yearly net income'!$D$2</c:f>
              <c:strCache>
                <c:ptCount val="1"/>
                <c:pt idx="0">
                  <c:v>Index (Czechia vs Italy, %)</c:v>
                </c:pt>
              </c:strCache>
            </c:strRef>
          </c:tx>
          <c:spPr>
            <a:ln w="22225" cap="rnd">
              <a:solidFill>
                <a:schemeClr val="accent1"/>
              </a:solidFill>
              <a:round/>
            </a:ln>
            <a:effectLst/>
          </c:spPr>
          <c:marker>
            <c:symbol val="diamond"/>
            <c:size val="6"/>
            <c:spPr>
              <a:solidFill>
                <a:schemeClr val="accent2"/>
              </a:solidFill>
              <a:ln w="9525">
                <a:solidFill>
                  <a:schemeClr val="accent2"/>
                </a:solidFill>
                <a:round/>
              </a:ln>
              <a:effectLst/>
            </c:spPr>
          </c:marker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50000"/>
                        <a:lumOff val="50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IT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</a:ln>
                    <a:effectLst/>
                  </c:spPr>
                </c15:leaderLines>
              </c:ext>
            </c:extLst>
          </c:dLbls>
          <c:cat>
            <c:strRef>
              <c:f>'Median yearly net income'!$A$3:$A$5</c:f>
              <c:strCache>
                <c:ptCount val="3"/>
                <c:pt idx="0">
                  <c:v>0-2 (ISCED 2011)</c:v>
                </c:pt>
                <c:pt idx="1">
                  <c:v>3-4 (ISCED 2011)</c:v>
                </c:pt>
                <c:pt idx="2">
                  <c:v>5-8 (ISCED 2011)</c:v>
                </c:pt>
              </c:strCache>
            </c:strRef>
          </c:cat>
          <c:val>
            <c:numRef>
              <c:f>'Median yearly net income'!$D$3:$D$5</c:f>
              <c:numCache>
                <c:formatCode>0.00%</c:formatCode>
                <c:ptCount val="3"/>
                <c:pt idx="0">
                  <c:v>0.73682062048052255</c:v>
                </c:pt>
                <c:pt idx="1">
                  <c:v>0.74523566050013945</c:v>
                </c:pt>
                <c:pt idx="2">
                  <c:v>0.70489520477023604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5685-9349-8803-D94731190EAE}"/>
            </c:ext>
          </c:extLst>
        </c:ser>
        <c:dLbls>
          <c:dLblPos val="ctr"/>
          <c:showLegendKey val="0"/>
          <c:showVal val="1"/>
          <c:showCatName val="0"/>
          <c:showSerName val="0"/>
          <c:showPercent val="0"/>
          <c:showBubbleSize val="0"/>
        </c:dLbls>
        <c:marker val="1"/>
        <c:smooth val="0"/>
        <c:axId val="52176816"/>
        <c:axId val="52161488"/>
      </c:lineChart>
      <c:catAx>
        <c:axId val="52176816"/>
        <c:scaling>
          <c:orientation val="minMax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800" b="0" i="0" u="none" strike="noStrike" kern="1200" cap="all" spc="120" normalizeH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IT"/>
          </a:p>
        </c:txPr>
        <c:crossAx val="52161488"/>
        <c:crosses val="autoZero"/>
        <c:auto val="1"/>
        <c:lblAlgn val="ctr"/>
        <c:lblOffset val="100"/>
        <c:noMultiLvlLbl val="0"/>
      </c:catAx>
      <c:valAx>
        <c:axId val="52161488"/>
        <c:scaling>
          <c:orientation val="minMax"/>
        </c:scaling>
        <c:delete val="0"/>
        <c:axPos val="l"/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900" b="0" i="0" u="none" strike="noStrike" kern="1200" cap="all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GB" dirty="0"/>
                  <a:t>Czech wage as % of Italy</a:t>
                </a:r>
              </a:p>
            </c:rich>
          </c:tx>
          <c:layout>
            <c:manualLayout>
              <c:xMode val="edge"/>
              <c:yMode val="edge"/>
              <c:x val="9.4913780949823862E-2"/>
              <c:y val="0.32655031926979278"/>
            </c:manualLayout>
          </c:layout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900" b="0" i="0" u="none" strike="noStrike" kern="1200" cap="all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IT"/>
            </a:p>
          </c:txPr>
        </c:title>
        <c:numFmt formatCode="0.00%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dk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IT"/>
          </a:p>
        </c:txPr>
        <c:crossAx val="52176816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IT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withinLinear" id="3">
  <a:schemeClr val="accent1"/>
  <a:schemeClr val="accent1"/>
  <a:schemeClr val="accent1"/>
  <a:schemeClr val="accent1"/>
  <a:schemeClr val="accent1"/>
  <a:schemeClr val="accent1"/>
</cs:colorStyle>
</file>

<file path=ppt/charts/colors2.xml><?xml version="1.0" encoding="utf-8"?>
<cs:colorStyle xmlns:cs="http://schemas.microsoft.com/office/drawing/2012/chartStyle" xmlns:a="http://schemas.openxmlformats.org/drawingml/2006/main" meth="withinLinear" id="3">
  <a:schemeClr val="accent1"/>
  <a:schemeClr val="accent1"/>
  <a:schemeClr val="accent1"/>
  <a:schemeClr val="accent1"/>
  <a:schemeClr val="accent1"/>
  <a:schemeClr val="accent1"/>
</cs:colorStyle>
</file>

<file path=ppt/charts/colors3.xml><?xml version="1.0" encoding="utf-8"?>
<cs:colorStyle xmlns:cs="http://schemas.microsoft.com/office/drawing/2012/chartStyle" xmlns:a="http://schemas.openxmlformats.org/drawingml/2006/main" meth="withinLinear" id="3">
  <a:schemeClr val="accent1"/>
  <a:schemeClr val="accent1"/>
  <a:schemeClr val="accent1"/>
  <a:schemeClr val="accent1"/>
  <a:schemeClr val="accent1"/>
  <a:schemeClr val="accent1"/>
</cs:colorStyle>
</file>

<file path=ppt/charts/style1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302">
  <cs:axisTitle>
    <cs:lnRef idx="0"/>
    <cs:fillRef idx="0"/>
    <cs:effectRef idx="0"/>
    <cs:fontRef idx="minor">
      <a:schemeClr val="tx2"/>
    </cs:fontRef>
    <cs:defRPr sz="900" b="1" kern="1200"/>
  </cs:axisTitle>
  <cs:categoryAxis>
    <cs:lnRef idx="0"/>
    <cs:fillRef idx="0"/>
    <cs:effectRef idx="0"/>
    <cs:fontRef idx="minor">
      <a:schemeClr val="tx2"/>
    </cs:fontRef>
    <cs:spPr>
      <a:ln w="9525" cap="flat" cmpd="sng" algn="ctr">
        <a:solidFill>
          <a:schemeClr val="tx2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2"/>
    </cs:fontRef>
    <cs:spPr>
      <a:solidFill>
        <a:schemeClr val="bg1"/>
      </a:solidFill>
      <a:ln w="9525" cap="flat" cmpd="sng" algn="ctr">
        <a:solidFill>
          <a:schemeClr val="tx2">
            <a:lumMod val="15000"/>
            <a:lumOff val="85000"/>
          </a:schemeClr>
        </a:solidFill>
        <a:round/>
      </a:ln>
    </cs:spPr>
    <cs:defRPr sz="900" kern="1200"/>
  </cs:chartArea>
  <cs:dataLabel>
    <cs:lnRef idx="0"/>
    <cs:fillRef idx="0"/>
    <cs:effectRef idx="0"/>
    <cs:fontRef idx="minor">
      <a:schemeClr val="tx2"/>
    </cs:fontRef>
    <cs:defRPr sz="900" kern="1200"/>
  </cs:dataLabel>
  <cs:dataLabelCallout>
    <cs:lnRef idx="0"/>
    <cs:fillRef idx="0"/>
    <cs:effectRef idx="0"/>
    <cs:fontRef idx="minor">
      <a:schemeClr val="dk2">
        <a:lumMod val="7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3">
      <cs:styleClr val="auto"/>
    </cs:fillRef>
    <cs:effectRef idx="2"/>
    <cs:fontRef idx="minor">
      <a:schemeClr val="tx2"/>
    </cs:fontRef>
  </cs:dataPoint>
  <cs:dataPoint3D>
    <cs:lnRef idx="0"/>
    <cs:fillRef idx="3">
      <cs:styleClr val="auto"/>
    </cs:fillRef>
    <cs:effectRef idx="2"/>
    <cs:fontRef idx="minor">
      <a:schemeClr val="tx2"/>
    </cs:fontRef>
  </cs:dataPoint3D>
  <cs:dataPointLine>
    <cs:lnRef idx="0">
      <cs:styleClr val="auto"/>
    </cs:lnRef>
    <cs:fillRef idx="3"/>
    <cs:effectRef idx="2"/>
    <cs:fontRef idx="minor">
      <a:schemeClr val="tx2"/>
    </cs:fontRef>
    <cs:spPr>
      <a:ln w="31750" cap="rnd">
        <a:solidFill>
          <a:schemeClr val="phClr"/>
        </a:solidFill>
        <a:round/>
      </a:ln>
    </cs:spPr>
  </cs:dataPointLine>
  <cs:dataPointMarker>
    <cs:lnRef idx="0"/>
    <cs:fillRef idx="3">
      <cs:styleClr val="auto"/>
    </cs:fillRef>
    <cs:effectRef idx="2"/>
    <cs:fontRef idx="minor">
      <a:schemeClr val="tx2"/>
    </cs:fontRef>
    <cs:spPr>
      <a:ln w="12700">
        <a:solidFill>
          <a:schemeClr val="lt2"/>
        </a:solidFill>
        <a:round/>
      </a:ln>
    </cs:spPr>
  </cs:dataPointMarker>
  <cs:dataPointMarkerLayout symbol="circle" size="6"/>
  <cs:dataPointWireframe>
    <cs:lnRef idx="0">
      <cs:styleClr val="auto"/>
    </cs:lnRef>
    <cs:fillRef idx="3"/>
    <cs:effectRef idx="2"/>
    <cs:fontRef idx="minor">
      <a:schemeClr val="tx2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2"/>
    </cs:fontRef>
    <cs:spPr>
      <a:ln w="9525">
        <a:solidFill>
          <a:schemeClr val="tx2">
            <a:lumMod val="15000"/>
            <a:lumOff val="85000"/>
          </a:schemeClr>
        </a:solidFill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2"/>
    </cs:fontRef>
    <cs:spPr>
      <a:ln w="9525">
        <a:solidFill>
          <a:schemeClr val="tx2">
            <a:lumMod val="60000"/>
            <a:lumOff val="40000"/>
          </a:schemeClr>
        </a:solidFill>
        <a:prstDash val="dash"/>
      </a:ln>
    </cs:spPr>
  </cs:dropLine>
  <cs:errorBar>
    <cs:lnRef idx="0"/>
    <cs:fillRef idx="0"/>
    <cs:effectRef idx="0"/>
    <cs:fontRef idx="minor">
      <a:schemeClr val="tx2"/>
    </cs:fontRef>
    <cs:spPr>
      <a:ln w="9525">
        <a:solidFill>
          <a:schemeClr val="tx2">
            <a:lumMod val="75000"/>
          </a:schemeClr>
        </a:solidFill>
        <a:round/>
      </a:ln>
    </cs:spPr>
  </cs:errorBar>
  <cs:floor>
    <cs:lnRef idx="0"/>
    <cs:fillRef idx="0"/>
    <cs:effectRef idx="0"/>
    <cs:fontRef idx="minor">
      <a:schemeClr val="tx2"/>
    </cs:fontRef>
  </cs:floor>
  <cs:gridlineMajor>
    <cs:lnRef idx="0"/>
    <cs:fillRef idx="0"/>
    <cs:effectRef idx="0"/>
    <cs:fontRef idx="minor">
      <a:schemeClr val="tx2"/>
    </cs:fontRef>
    <cs:spPr>
      <a:ln w="9525" cap="flat" cmpd="sng" algn="ctr">
        <a:solidFill>
          <a:schemeClr val="tx2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2"/>
    </cs:fontRef>
    <cs:spPr>
      <a:ln>
        <a:solidFill>
          <a:schemeClr val="tx2">
            <a:lumMod val="5000"/>
            <a:lumOff val="95000"/>
          </a:schemeClr>
        </a:solidFill>
      </a:ln>
    </cs:spPr>
  </cs:gridlineMinor>
  <cs:hiLoLine>
    <cs:lnRef idx="0"/>
    <cs:fillRef idx="0"/>
    <cs:effectRef idx="0"/>
    <cs:fontRef idx="minor">
      <a:schemeClr val="tx2"/>
    </cs:fontRef>
    <cs:spPr>
      <a:ln w="9525">
        <a:solidFill>
          <a:schemeClr val="tx2">
            <a:lumMod val="60000"/>
            <a:lumOff val="40000"/>
          </a:schemeClr>
        </a:solidFill>
        <a:prstDash val="dash"/>
      </a:ln>
    </cs:spPr>
  </cs:hiLoLine>
  <cs:leaderLine>
    <cs:lnRef idx="0"/>
    <cs:fillRef idx="0"/>
    <cs:effectRef idx="0"/>
    <cs:fontRef idx="minor">
      <a:schemeClr val="tx2"/>
    </cs:fontRef>
    <cs:spPr>
      <a:ln w="9525">
        <a:solidFill>
          <a:schemeClr val="tx2">
            <a:lumMod val="35000"/>
            <a:lumOff val="65000"/>
          </a:schemeClr>
        </a:solidFill>
      </a:ln>
    </cs:spPr>
  </cs:leaderLine>
  <cs:legend>
    <cs:lnRef idx="0"/>
    <cs:fillRef idx="0"/>
    <cs:effectRef idx="0"/>
    <cs:fontRef idx="minor">
      <a:schemeClr val="tx2"/>
    </cs:fontRef>
    <cs:defRPr sz="900" kern="1200"/>
  </cs:legend>
  <cs:plotArea>
    <cs:lnRef idx="0"/>
    <cs:fillRef idx="0"/>
    <cs:effectRef idx="0"/>
    <cs:fontRef idx="minor">
      <a:schemeClr val="tx2"/>
    </cs:fontRef>
  </cs:plotArea>
  <cs:plotArea3D>
    <cs:lnRef idx="0"/>
    <cs:fillRef idx="0"/>
    <cs:effectRef idx="0"/>
    <cs:fontRef idx="minor">
      <a:schemeClr val="tx2"/>
    </cs:fontRef>
  </cs:plotArea3D>
  <cs:seriesAxis>
    <cs:lnRef idx="0"/>
    <cs:fillRef idx="0"/>
    <cs:effectRef idx="0"/>
    <cs:fontRef idx="minor">
      <a:schemeClr val="tx2"/>
    </cs:fontRef>
    <cs:spPr>
      <a:ln w="9525" cap="flat" cmpd="sng" algn="ctr">
        <a:solidFill>
          <a:schemeClr val="tx2">
            <a:lumMod val="15000"/>
            <a:lumOff val="85000"/>
          </a:schemeClr>
        </a:solidFill>
        <a:round/>
      </a:ln>
    </cs:spPr>
    <cs:defRPr sz="900" kern="1200"/>
  </cs:seriesAxis>
  <cs:seriesLine>
    <cs:lnRef idx="0"/>
    <cs:fillRef idx="0"/>
    <cs:effectRef idx="0"/>
    <cs:fontRef idx="minor">
      <a:schemeClr val="tx2"/>
    </cs:fontRef>
    <cs:spPr>
      <a:ln w="9525">
        <a:solidFill>
          <a:schemeClr val="tx2">
            <a:lumMod val="60000"/>
            <a:lumOff val="40000"/>
          </a:schemeClr>
        </a:solidFill>
        <a:prstDash val="dash"/>
      </a:ln>
    </cs:spPr>
  </cs:seriesLine>
  <cs:title>
    <cs:lnRef idx="0"/>
    <cs:fillRef idx="0"/>
    <cs:effectRef idx="0"/>
    <cs:fontRef idx="minor">
      <a:schemeClr val="tx2"/>
    </cs:fontRef>
    <cs:defRPr sz="1600" b="1" kern="1200"/>
  </cs:title>
  <cs:trendline>
    <cs:lnRef idx="0">
      <cs:styleClr val="auto"/>
    </cs:lnRef>
    <cs:fillRef idx="0"/>
    <cs:effectRef idx="0"/>
    <cs:fontRef idx="minor">
      <a:schemeClr val="tx2"/>
    </cs:fontRef>
    <cs:spPr>
      <a:ln w="19050" cap="rnd">
        <a:solidFill>
          <a:schemeClr val="phClr"/>
        </a:solidFill>
        <a:prstDash val="sysDash"/>
      </a:ln>
    </cs:spPr>
  </cs:trendline>
  <cs:trendlineLabel>
    <cs:lnRef idx="0"/>
    <cs:fillRef idx="0"/>
    <cs:effectRef idx="0"/>
    <cs:fontRef idx="minor">
      <a:schemeClr val="tx2"/>
    </cs:fontRef>
    <cs:defRPr sz="900" kern="1200"/>
  </cs:trendlineLabel>
  <cs:upBar>
    <cs:lnRef idx="0"/>
    <cs:fillRef idx="0"/>
    <cs:effectRef idx="0"/>
    <cs:fontRef idx="minor">
      <a:schemeClr val="tx2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2"/>
    </cs:fontRef>
    <cs:defRPr sz="900" kern="1200"/>
  </cs:valueAxis>
  <cs:wall>
    <cs:lnRef idx="0"/>
    <cs:fillRef idx="0"/>
    <cs:effectRef idx="0"/>
    <cs:fontRef idx="minor">
      <a:schemeClr val="tx2"/>
    </cs:fontRef>
  </cs:wall>
</cs:chartStyle>
</file>

<file path=ppt/charts/style3.xml><?xml version="1.0" encoding="utf-8"?>
<cs:chartStyle xmlns:cs="http://schemas.microsoft.com/office/drawing/2012/chartStyle" xmlns:a="http://schemas.openxmlformats.org/drawingml/2006/main" id="239">
  <cs:axisTitle>
    <cs:lnRef idx="0"/>
    <cs:fillRef idx="0"/>
    <cs:effectRef idx="0"/>
    <cs:fontRef idx="minor">
      <a:schemeClr val="tx1">
        <a:lumMod val="65000"/>
        <a:lumOff val="35000"/>
      </a:schemeClr>
    </cs:fontRef>
    <cs:defRPr sz="900" kern="1200" cap="all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800" kern="1200" cap="all" spc="120" normalizeH="0" baseline="0"/>
  </cs:categoryAxis>
  <cs:chartArea mods="allowNoFillOverride allowNoLineOverride">
    <cs:lnRef idx="0"/>
    <cs:fillRef idx="0"/>
    <cs:effectRef idx="0"/>
    <cs:fontRef idx="minor">
      <a:schemeClr val="dk1"/>
    </cs:fontRef>
    <cs:spPr>
      <a:solidFill>
        <a:schemeClr val="lt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hartArea>
  <cs:dataLabel>
    <cs:lnRef idx="0"/>
    <cs:fillRef idx="0"/>
    <cs:effectRef idx="0"/>
    <cs:fontRef idx="minor">
      <a:schemeClr val="tx1">
        <a:lumMod val="50000"/>
        <a:lumOff val="50000"/>
      </a:schemeClr>
    </cs:fontRef>
    <cs:defRPr sz="900" b="0" i="0" u="none" strike="noStrike" kern="1200" baseline="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0">
      <cs:styleClr val="auto"/>
    </cs:fillRef>
    <cs:effectRef idx="0"/>
    <cs:fontRef idx="minor">
      <a:schemeClr val="dk1"/>
    </cs:fontRef>
    <cs:spPr>
      <a:solidFill>
        <a:schemeClr val="phClr"/>
      </a:solidFill>
    </cs:spPr>
  </cs:dataPoint>
  <cs:dataPoint3D>
    <cs:lnRef idx="0"/>
    <cs:fillRef idx="0">
      <cs:styleClr val="auto"/>
    </cs:fillRef>
    <cs:effectRef idx="0"/>
    <cs:fontRef idx="minor">
      <a:schemeClr val="dk1"/>
    </cs:fontRef>
    <cs:spPr>
      <a:solidFill>
        <a:schemeClr val="phClr"/>
      </a:solidFill>
    </cs:spPr>
  </cs:dataPoint3D>
  <cs:dataPointLine>
    <cs:lnRef idx="0">
      <cs:styleClr val="auto"/>
    </cs:lnRef>
    <cs:fillRef idx="0"/>
    <cs:effectRef idx="0"/>
    <cs:fontRef idx="minor">
      <a:schemeClr val="dk1"/>
    </cs:fontRef>
    <cs:spPr>
      <a:ln w="2222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0">
      <cs:styleClr val="auto"/>
    </cs:fillRef>
    <cs:effectRef idx="0"/>
    <cs:fontRef idx="minor">
      <a:schemeClr val="dk1"/>
    </cs:fontRef>
    <cs:spPr>
      <a:solidFill>
        <a:schemeClr val="phClr"/>
      </a:solidFill>
      <a:ln w="9525">
        <a:solidFill>
          <a:schemeClr val="phClr"/>
        </a:solidFill>
        <a:round/>
      </a:ln>
    </cs:spPr>
  </cs:dataPointMarker>
  <cs:dataPointMarkerLayout size="6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ln w="9525">
        <a:solidFill>
          <a:schemeClr val="tx1">
            <a:lumMod val="15000"/>
            <a:lumOff val="85000"/>
          </a:schemeClr>
        </a:solidFill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75000"/>
          <a:lumOff val="25000"/>
        </a:schemeClr>
      </a:solidFill>
      <a:ln w="9525">
        <a:solidFill>
          <a:schemeClr val="tx1">
            <a:lumMod val="15000"/>
            <a:lumOff val="85000"/>
          </a:schemeClr>
        </a:solidFill>
      </a:ln>
    </cs:spPr>
  </cs:downBar>
  <cs:drop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</a:ln>
    </cs:spPr>
  </cs:dropLine>
  <cs:errorBar>
    <cs:lnRef idx="0"/>
    <cs:fillRef idx="0"/>
    <cs:effectRef idx="0"/>
    <cs:fontRef idx="minor">
      <a:schemeClr val="dk1"/>
    </cs:fontRef>
    <cs:spPr>
      <a:ln w="9525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dk1"/>
    </cs:fontRef>
  </cs:floor>
  <cs:gridlineMajor>
    <cs:lnRef idx="0"/>
    <cs:fillRef idx="0"/>
    <cs:effectRef idx="0"/>
    <cs:fontRef idx="minor">
      <a:schemeClr val="dk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dk1"/>
    </cs:fontRef>
    <cs:spPr>
      <a:ln>
        <a:solidFill>
          <a:schemeClr val="tx1">
            <a:lumMod val="5000"/>
            <a:lumOff val="95000"/>
          </a:schemeClr>
        </a:solidFill>
      </a:ln>
    </cs:spPr>
  </cs:gridlineMinor>
  <cs:hiLo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50000"/>
            <a:lumOff val="50000"/>
          </a:schemeClr>
        </a:solidFill>
      </a:ln>
    </cs:spPr>
  </cs:hiLoLine>
  <cs:leader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dk1"/>
    </cs:fontRef>
  </cs:plotArea>
  <cs:plotArea3D mods="allowNoFillOverride allowNoLineOverride">
    <cs:lnRef idx="0"/>
    <cs:fillRef idx="0"/>
    <cs:effectRef idx="0"/>
    <cs:fontRef idx="minor">
      <a:schemeClr val="dk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seriesAxis>
  <cs:series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600" b="1" kern="1200" cap="all" spc="120" normalizeH="0" baseline="0"/>
  </cs:title>
  <cs:trendline>
    <cs:lnRef idx="0">
      <cs:styleClr val="auto"/>
    </cs:lnRef>
    <cs:fillRef idx="0"/>
    <cs:effectRef idx="0"/>
    <cs:fontRef idx="minor">
      <a:schemeClr val="dk1"/>
    </cs:fontRef>
    <cs:spPr>
      <a:ln w="19050" cap="rnd">
        <a:solidFill>
          <a:schemeClr val="phClr"/>
        </a:solidFill>
        <a:prstDash val="sysDash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8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65000"/>
            <a:lumOff val="3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dk1">
            <a:lumMod val="15000"/>
            <a:lumOff val="85000"/>
          </a:schemeClr>
        </a:solidFill>
        <a:round/>
      </a:ln>
    </cs:spPr>
    <cs:defRPr sz="900" kern="1200"/>
  </cs:valueAxis>
  <cs:wall>
    <cs:lnRef idx="0"/>
    <cs:fillRef idx="0"/>
    <cs:effectRef idx="0"/>
    <cs:fontRef idx="minor">
      <a:schemeClr val="dk1"/>
    </cs:fontRef>
  </cs:wall>
</cs:chartStyl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T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816DD69-FE38-BF43-A302-CAD1A9999A98}" type="datetimeFigureOut">
              <a:rPr lang="en-IT" smtClean="0"/>
              <a:t>07/12/25</a:t>
            </a:fld>
            <a:endParaRPr lang="en-IT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T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T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T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098AA6B-3311-1546-AC01-CC3F1043EB30}" type="slidenum">
              <a:rPr lang="en-IT" smtClean="0"/>
              <a:t>‹#›</a:t>
            </a:fld>
            <a:endParaRPr lang="en-IT"/>
          </a:p>
        </p:txBody>
      </p:sp>
    </p:spTree>
    <p:extLst>
      <p:ext uri="{BB962C8B-B14F-4D97-AF65-F5344CB8AC3E}">
        <p14:creationId xmlns:p14="http://schemas.microsoft.com/office/powerpoint/2010/main" val="296760034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dirty="0"/>
              <a:t>“Hello, my name is Tommaso, and in this short presentation I will compare Italy and Czechia using three key indicators from Eurostat: unemployment, poverty risk, and median yearly net income. My goal is to illustrate not only the numerical differences between the two countries, but also the structural mechanisms behind these gaps.”</a:t>
            </a:r>
          </a:p>
          <a:p>
            <a:endParaRPr lang="en-IT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098AA6B-3311-1546-AC01-CC3F1043EB30}" type="slidenum">
              <a:rPr lang="en-IT" smtClean="0"/>
              <a:t>1</a:t>
            </a:fld>
            <a:endParaRPr lang="en-IT"/>
          </a:p>
        </p:txBody>
      </p:sp>
    </p:spTree>
    <p:extLst>
      <p:ext uri="{BB962C8B-B14F-4D97-AF65-F5344CB8AC3E}">
        <p14:creationId xmlns:p14="http://schemas.microsoft.com/office/powerpoint/2010/main" val="31850031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This chart shows the unemployment rate by age group in 2023.</a:t>
            </a:r>
          </a:p>
          <a:p>
            <a:r>
              <a:rPr lang="en-GB" dirty="0"/>
              <a:t>Italy has a much higher youth unemployment rate compared to Czechia, especially in the 15–24 group.</a:t>
            </a:r>
          </a:p>
          <a:p>
            <a:r>
              <a:rPr lang="en-GB" dirty="0"/>
              <a:t>This difference is mainly due to structural barriers in the school-to-work transition and a more rigid </a:t>
            </a:r>
            <a:r>
              <a:rPr lang="en-GB" dirty="0" err="1"/>
              <a:t>labor</a:t>
            </a:r>
            <a:r>
              <a:rPr lang="en-GB" dirty="0"/>
              <a:t> market.</a:t>
            </a:r>
          </a:p>
          <a:p>
            <a:r>
              <a:rPr lang="en-GB" dirty="0"/>
              <a:t>Czechia, on the other hand, shows consistently lower unemployment across all age groups, reflecting stronger </a:t>
            </a:r>
            <a:r>
              <a:rPr lang="en-GB" dirty="0" err="1"/>
              <a:t>labor</a:t>
            </a:r>
            <a:r>
              <a:rPr lang="en-GB" dirty="0"/>
              <a:t> demand and more effective vocational integration.”</a:t>
            </a:r>
          </a:p>
          <a:p>
            <a:endParaRPr lang="en-IT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098AA6B-3311-1546-AC01-CC3F1043EB30}" type="slidenum">
              <a:rPr lang="en-IT" smtClean="0"/>
              <a:t>2</a:t>
            </a:fld>
            <a:endParaRPr lang="en-IT"/>
          </a:p>
        </p:txBody>
      </p:sp>
    </p:spTree>
    <p:extLst>
      <p:ext uri="{BB962C8B-B14F-4D97-AF65-F5344CB8AC3E}">
        <p14:creationId xmlns:p14="http://schemas.microsoft.com/office/powerpoint/2010/main" val="225460002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In this slide we see the decomposition of the poverty gap between Italy and Czechia in 2024.</a:t>
            </a:r>
          </a:p>
          <a:p>
            <a:r>
              <a:rPr lang="en-GB" dirty="0"/>
              <a:t>The analysis reveals that the higher poverty risk in Italy is driven mostly by the intensity effect—meaning poorer outcomes within each age group—rather than by differences in population structure.</a:t>
            </a:r>
          </a:p>
          <a:p>
            <a:r>
              <a:rPr lang="en-GB" dirty="0"/>
              <a:t>In other words, Italy’s problem is not demographic composition, but weaker income distribution and lower effectiveness of social transfers.”</a:t>
            </a:r>
          </a:p>
          <a:p>
            <a:endParaRPr lang="en-IT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098AA6B-3311-1546-AC01-CC3F1043EB30}" type="slidenum">
              <a:rPr lang="en-IT" smtClean="0"/>
              <a:t>3</a:t>
            </a:fld>
            <a:endParaRPr lang="en-IT"/>
          </a:p>
        </p:txBody>
      </p:sp>
    </p:spTree>
    <p:extLst>
      <p:ext uri="{BB962C8B-B14F-4D97-AF65-F5344CB8AC3E}">
        <p14:creationId xmlns:p14="http://schemas.microsoft.com/office/powerpoint/2010/main" val="21196585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Here we compare median yearly net income by education level.</a:t>
            </a:r>
          </a:p>
          <a:p>
            <a:r>
              <a:rPr lang="en-GB" dirty="0"/>
              <a:t>Czechia reaches around 70–75% of Italy’s median income across all education groups.</a:t>
            </a:r>
          </a:p>
          <a:p>
            <a:r>
              <a:rPr lang="en-GB" dirty="0"/>
              <a:t>However, the income gap becomes larger for higher education, suggesting that Italy provides stronger returns to education.</a:t>
            </a:r>
          </a:p>
          <a:p>
            <a:r>
              <a:rPr lang="en-GB" dirty="0"/>
              <a:t>This also reflects a more unequal income distribution in Italy, which amplifies wage differences by educational attainment.</a:t>
            </a:r>
          </a:p>
          <a:p>
            <a:endParaRPr lang="en-IT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098AA6B-3311-1546-AC01-CC3F1043EB30}" type="slidenum">
              <a:rPr lang="en-IT" smtClean="0"/>
              <a:t>4</a:t>
            </a:fld>
            <a:endParaRPr lang="en-IT"/>
          </a:p>
        </p:txBody>
      </p:sp>
    </p:spTree>
    <p:extLst>
      <p:ext uri="{BB962C8B-B14F-4D97-AF65-F5344CB8AC3E}">
        <p14:creationId xmlns:p14="http://schemas.microsoft.com/office/powerpoint/2010/main" val="378644195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To summarize, Italy combines higher wages with higher inequality and higher unemployment.</a:t>
            </a:r>
          </a:p>
          <a:p>
            <a:r>
              <a:rPr lang="en-GB" dirty="0"/>
              <a:t>This means that while some individuals earn more, fewer people actually benefit from economic growth.</a:t>
            </a:r>
          </a:p>
          <a:p>
            <a:r>
              <a:rPr lang="en-GB" dirty="0"/>
              <a:t>Czechia, by contrast, has lower average wages but achieves more equal outcomes, lower unemployment, and a more inclusive </a:t>
            </a:r>
            <a:r>
              <a:rPr lang="en-GB" dirty="0" err="1"/>
              <a:t>labor</a:t>
            </a:r>
            <a:r>
              <a:rPr lang="en-GB" dirty="0"/>
              <a:t> market.</a:t>
            </a:r>
          </a:p>
          <a:p>
            <a:r>
              <a:rPr lang="en-GB" dirty="0"/>
              <a:t>Overall, these results highlight the importance of both structural reforms in Italy and the strengths of Czechia’s </a:t>
            </a:r>
            <a:r>
              <a:rPr lang="en-GB" dirty="0" err="1"/>
              <a:t>labor</a:t>
            </a:r>
            <a:r>
              <a:rPr lang="en-GB" dirty="0"/>
              <a:t> and social policies.”</a:t>
            </a:r>
          </a:p>
          <a:p>
            <a:endParaRPr lang="en-IT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098AA6B-3311-1546-AC01-CC3F1043EB30}" type="slidenum">
              <a:rPr lang="en-IT" smtClean="0"/>
              <a:t>5</a:t>
            </a:fld>
            <a:endParaRPr lang="en-IT"/>
          </a:p>
        </p:txBody>
      </p:sp>
    </p:spTree>
    <p:extLst>
      <p:ext uri="{BB962C8B-B14F-4D97-AF65-F5344CB8AC3E}">
        <p14:creationId xmlns:p14="http://schemas.microsoft.com/office/powerpoint/2010/main" val="54668638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45610A-17B4-4656-93CF-E1D9982860F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40080" y="1371599"/>
            <a:ext cx="6675120" cy="2951825"/>
          </a:xfrm>
        </p:spPr>
        <p:txBody>
          <a:bodyPr anchor="t">
            <a:normAutofit/>
          </a:bodyPr>
          <a:lstStyle>
            <a:lvl1pPr algn="l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451C80B-DFD6-415B-BA5B-E56E510CD12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40080" y="4584879"/>
            <a:ext cx="6675120" cy="1287887"/>
          </a:xfrm>
        </p:spPr>
        <p:txBody>
          <a:bodyPr anchor="b">
            <a:normAutofit/>
          </a:bodyPr>
          <a:lstStyle>
            <a:lvl1pPr marL="0" indent="0" algn="l">
              <a:lnSpc>
                <a:spcPct val="130000"/>
              </a:lnSpc>
              <a:buNone/>
              <a:defRPr sz="1800" b="1" cap="all" spc="300" baseline="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7A2065B-06FF-4991-9F8A-4BE25457B4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44479B-705B-4489-957E-7E8A228BDFA0}" type="datetime1">
              <a:rPr lang="en-US" smtClean="0"/>
              <a:t>12/7/25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20DF2FA-C604-45D8-A633-11D3742EC1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2EE5DA9-2D04-4850-AB9F-BD35381650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594951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08B246-6A68-46BE-9DBD-614FA8CF4E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E47706-8D18-4093-A7C1-F30D7543CED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EC7C8FC-AAEA-4AB6-9DB5-2503F58F0E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89F774-3FA6-43B8-9241-99959C8FD463}" type="datetime1">
              <a:rPr lang="en-US" smtClean="0"/>
              <a:t>12/7/25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8B1616B-3F08-4869-A522-773C38940F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E030CE6-9124-4B3A-A912-AE16B5C340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125254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71BB59B6-79B9-97F5-AC3B-DF65899D39D8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6C78885-57B2-4930-BD7D-CBF916EDF1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1291366"/>
            <a:ext cx="9214884" cy="3159974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BE495E4-2F8B-4CC7-88AC-A312067E60D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40080" y="5018567"/>
            <a:ext cx="7907079" cy="1073889"/>
          </a:xfrm>
        </p:spPr>
        <p:txBody>
          <a:bodyPr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8585CC9-BAD3-4807-90BB-97DA2D6A6B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504452-5DCC-4FE2-A5C9-8A5EF6714D65}" type="datetime1">
              <a:rPr lang="en-US" smtClean="0"/>
              <a:t>12/7/25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F108CEF-165F-4D7E-9666-5CD0156B49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E0EBC3D-3277-4D34-9F67-71040C21E3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FF05EAE5-4812-F718-6D75-9627884180B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716281" y="4715234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5877016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B477A4-4D01-45B6-9563-0BF13BA72F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EE17E00-96AC-45F0-82B2-9F601E9B93C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40080" y="2633472"/>
            <a:ext cx="5212080" cy="35661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2BA30CD-95C0-427B-A571-A7D8A53278F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18928" y="2633472"/>
            <a:ext cx="5212080" cy="35661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6F67CAC-53E4-44AF-BEAC-8FFB96F05A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79ABC2-0180-4F3A-A895-A85BC724D472}" type="datetime1">
              <a:rPr lang="en-US" smtClean="0"/>
              <a:t>12/7/25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83D9F3A-E7F0-45E7-AFA8-0D4A669EC1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C5F008B-58BB-45FF-923F-5909DAB49D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7510098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97B549-9E51-42E0-992A-73E7759577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79" y="1371599"/>
            <a:ext cx="10890929" cy="93975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81A5FDC-7C4B-45FB-8462-E2CE79919F3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40079" y="2311352"/>
            <a:ext cx="5212080" cy="695373"/>
          </a:xfrm>
        </p:spPr>
        <p:txBody>
          <a:bodyPr anchor="b">
            <a:normAutofit/>
          </a:bodyPr>
          <a:lstStyle>
            <a:lvl1pPr marL="0" indent="0">
              <a:buNone/>
              <a:defRPr sz="1800" b="1" cap="all" spc="300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BD8B686-2E92-45B9-A3D7-9DCAA0C50B3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40079" y="3006725"/>
            <a:ext cx="5212080" cy="319125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6ADB526-4A44-47B6-8D14-93202E590AA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318928" y="2311352"/>
            <a:ext cx="5212080" cy="695373"/>
          </a:xfrm>
        </p:spPr>
        <p:txBody>
          <a:bodyPr anchor="b">
            <a:normAutofit/>
          </a:bodyPr>
          <a:lstStyle>
            <a:lvl1pPr marL="0" indent="0">
              <a:buNone/>
              <a:defRPr sz="1800" b="1" cap="all" spc="300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74177CA-5C13-4311-BFD3-B98FBD942DA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318928" y="3006725"/>
            <a:ext cx="5212080" cy="319125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DEA255A-4CB5-40CA-B756-1AA5E27C20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EEA9BA-4E8F-439E-BEA4-91FBA01E3F5F}" type="datetime1">
              <a:rPr lang="en-US" smtClean="0"/>
              <a:t>12/7/25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F3072C4-10F1-49B8-B0BF-69204EDDCF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A5ACC97-44C1-4887-909B-E6732D3C1F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597839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27D313-943A-47E0-8A7A-DFFBCC297A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3AC25A7-81C8-4AA1-AD9F-C78A451FDE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15BF18-0007-481C-AA29-413124BC3EE7}" type="datetime1">
              <a:rPr lang="en-US" smtClean="0"/>
              <a:t>12/7/25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EF54740-6022-46B2-9C55-B60E965168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89497C9-6B5E-46D6-8FE9-0A5E0CF7F9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6650850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5" name="Rectangle 4">
            <a:extLst>
              <a:ext uri="{FF2B5EF4-FFF2-40B4-BE49-F238E27FC236}">
                <a16:creationId xmlns:a16="http://schemas.microsoft.com/office/drawing/2014/main" id="{149F9F0F-FB8C-5565-247C-BDCC156B5CAF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2740D3C-270A-401A-810C-2F86BBBB87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BE9870-3748-43AD-B547-02A075CB4A1D}" type="datetime1">
              <a:rPr lang="en-US" smtClean="0"/>
              <a:t>12/7/25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DCBE9F8-1765-4F36-A4DE-1DB136025A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790CF9E-A6C6-4873-ADBE-7A2939319E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98836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08CDF8-00AD-4441-A6D5-9D7A659EB6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1371600"/>
            <a:ext cx="3859397" cy="1451723"/>
          </a:xfrm>
        </p:spPr>
        <p:txBody>
          <a:bodyPr anchor="t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8C330AF-CB7E-420A-AE8A-E02E9032588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36519" y="1031001"/>
            <a:ext cx="6594490" cy="5166360"/>
          </a:xfrm>
        </p:spPr>
        <p:txBody>
          <a:bodyPr>
            <a:normAutofit/>
          </a:bodyPr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43257AD-2422-4CDA-9C55-700F4B5BF25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40080" y="2972168"/>
            <a:ext cx="3859397" cy="3226826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51B7454-C1CC-46F2-A6FB-1FE786C48F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8E7897-33C5-4F1A-9307-D068E37F3DC7}" type="datetime1">
              <a:rPr lang="en-US" smtClean="0"/>
              <a:t>12/7/25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9077DBE-6CC7-421B-AB5E-341E20BD92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D6EAB8F-7526-4CDB-B782-FAD8B3E70B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076704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31647F-5A61-44C9-81DC-331C9AE5DD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1371600"/>
            <a:ext cx="3859397" cy="1451723"/>
          </a:xfrm>
        </p:spPr>
        <p:txBody>
          <a:bodyPr anchor="t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1627A0F-F1B8-49BE-A0FF-7FE16E3BDCC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4937760" y="1033271"/>
            <a:ext cx="6592824" cy="516636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86D1BD6-1519-4431-9FAF-7D4F4129972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40080" y="2972167"/>
            <a:ext cx="3859397" cy="3226825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5A587A0-353B-42C2-BA96-B1ADEDF642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E171BA-CC09-47C8-A6DF-F5C5CB59CEEC}" type="datetime1">
              <a:rPr lang="en-US" smtClean="0"/>
              <a:t>12/7/25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4D5A88E-3957-4B76-B1BE-4164029217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5F7C5FD-E56A-4C66-8F23-087F95A2FD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972118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5E4BB7-3F30-4C31-9BB2-8EC24FC0A1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ECF4134-70F5-4EE6-88BE-49D129630CD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19EABC7-C044-44DE-B303-55A0581DA1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7B66AD-7C08-490A-ADA4-B47E10FB2407}" type="datetime1">
              <a:rPr lang="en-US" smtClean="0"/>
              <a:t>12/7/25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D4A63E1-5BC5-402E-9916-BAB84BCF0B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A2EF915-AF64-4ECC-8B1A-B7E6A89B79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189693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31CB3635-47E1-90D8-B693-DA85A66B3831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Vertical Title 1">
            <a:extLst>
              <a:ext uri="{FF2B5EF4-FFF2-40B4-BE49-F238E27FC236}">
                <a16:creationId xmlns:a16="http://schemas.microsoft.com/office/drawing/2014/main" id="{6EB09414-2AA1-4D8E-A00A-C092FBC92D9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9209219" y="640079"/>
            <a:ext cx="1811773" cy="5536884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42C3A78-37C5-46D0-9DF4-CB78AF883C2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40080" y="640080"/>
            <a:ext cx="8412422" cy="553688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9D8705E-925D-4F57-8268-107CE3CF4C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B95027-4255-49E7-9841-CD21BCC99996}" type="datetime1">
              <a:rPr lang="en-US" smtClean="0"/>
              <a:t>12/7/25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0FE207E-070D-4EC8-A44C-21F1815FDA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15D01D1-C266-4161-A820-C084B98013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3230604F-219C-2DEE-830E-27274CC2FE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rot="5400000">
            <a:off x="10872154" y="1192438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2884596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AB4E786-7636-4278-8595-D365D28A79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79" y="1371601"/>
            <a:ext cx="10890929" cy="109728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A740849-7059-4C70-992B-5304D2EE9BA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40080" y="2633472"/>
            <a:ext cx="10890928" cy="356616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09FEBF6-CEA6-4332-87B3-697807571C8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4008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 b="1" cap="all" spc="300" baseline="0">
                <a:solidFill>
                  <a:schemeClr val="tx1"/>
                </a:solidFill>
              </a:defRPr>
            </a:lvl1pPr>
          </a:lstStyle>
          <a:p>
            <a:fld id="{7DA38F49-B3E2-4BF0-BEC7-C30D34ABBB8D}" type="datetime1">
              <a:rPr lang="en-US" smtClean="0"/>
              <a:t>12/7/25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C6BAF94-621C-43E1-BA0C-410A6899031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767622" y="6356350"/>
            <a:ext cx="404037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 b="1" cap="all" spc="300" baseline="0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37D19E5-9E16-48C9-AAE2-0C70679A8D7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807995" y="6356350"/>
            <a:ext cx="72301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 b="1" cap="all" spc="300" baseline="0">
                <a:solidFill>
                  <a:schemeClr val="tx1"/>
                </a:solidFill>
              </a:defRPr>
            </a:lvl1pPr>
          </a:lstStyle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118E06E4-607B-144B-382B-AD3D06B1EE8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713232" y="1031001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32081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35" r:id="rId1"/>
    <p:sldLayoutId id="2147483736" r:id="rId2"/>
    <p:sldLayoutId id="2147483737" r:id="rId3"/>
    <p:sldLayoutId id="2147483738" r:id="rId4"/>
    <p:sldLayoutId id="2147483739" r:id="rId5"/>
    <p:sldLayoutId id="2147483740" r:id="rId6"/>
    <p:sldLayoutId id="2147483741" r:id="rId7"/>
    <p:sldLayoutId id="2147483742" r:id="rId8"/>
    <p:sldLayoutId id="2147483743" r:id="rId9"/>
    <p:sldLayoutId id="2147483745" r:id="rId10"/>
    <p:sldLayoutId id="2147483744" r:id="rId11"/>
  </p:sldLayoutIdLst>
  <p:hf sldNum="0" hdr="0" ftr="0" dt="0"/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40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SzPct val="87000"/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493776" indent="-228600" algn="l" defTabSz="914400" rtl="0" eaLnBrk="1" latinLnBrk="0" hangingPunct="1">
        <a:lnSpc>
          <a:spcPct val="120000"/>
        </a:lnSpc>
        <a:spcBef>
          <a:spcPts val="500"/>
        </a:spcBef>
        <a:buSzPct val="87000"/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731520" indent="-228600" algn="l" defTabSz="914400" rtl="0" eaLnBrk="1" latinLnBrk="0" hangingPunct="1">
        <a:lnSpc>
          <a:spcPct val="120000"/>
        </a:lnSpc>
        <a:spcBef>
          <a:spcPts val="500"/>
        </a:spcBef>
        <a:buSzPct val="87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051560" indent="-285750" algn="l" defTabSz="914400" rtl="0" eaLnBrk="1" latinLnBrk="0" hangingPunct="1">
        <a:lnSpc>
          <a:spcPct val="120000"/>
        </a:lnSpc>
        <a:spcBef>
          <a:spcPts val="500"/>
        </a:spcBef>
        <a:buSzPct val="87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1298448" indent="-228600" algn="l" defTabSz="914400" rtl="0" eaLnBrk="1" latinLnBrk="0" hangingPunct="1">
        <a:lnSpc>
          <a:spcPct val="120000"/>
        </a:lnSpc>
        <a:spcBef>
          <a:spcPts val="500"/>
        </a:spcBef>
        <a:buSzPct val="87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audio" Target="../media/media1.m4a"/><Relationship Id="rId1" Type="http://schemas.microsoft.com/office/2007/relationships/media" Target="../media/media1.m4a"/><Relationship Id="rId6" Type="http://schemas.openxmlformats.org/officeDocument/2006/relationships/image" Target="../media/image2.png"/><Relationship Id="rId5" Type="http://schemas.openxmlformats.org/officeDocument/2006/relationships/image" Target="../media/image1.jpeg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audio" Target="../media/media2.m4a"/><Relationship Id="rId1" Type="http://schemas.microsoft.com/office/2007/relationships/media" Target="../media/media2.m4a"/><Relationship Id="rId6" Type="http://schemas.openxmlformats.org/officeDocument/2006/relationships/image" Target="../media/image2.png"/><Relationship Id="rId5" Type="http://schemas.openxmlformats.org/officeDocument/2006/relationships/chart" Target="../charts/chart1.xml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audio" Target="../media/media3.m4a"/><Relationship Id="rId1" Type="http://schemas.microsoft.com/office/2007/relationships/media" Target="../media/media3.m4a"/><Relationship Id="rId6" Type="http://schemas.openxmlformats.org/officeDocument/2006/relationships/image" Target="../media/image2.png"/><Relationship Id="rId5" Type="http://schemas.openxmlformats.org/officeDocument/2006/relationships/chart" Target="../charts/chart2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audio" Target="../media/media4.m4a"/><Relationship Id="rId1" Type="http://schemas.microsoft.com/office/2007/relationships/media" Target="../media/media4.m4a"/><Relationship Id="rId6" Type="http://schemas.openxmlformats.org/officeDocument/2006/relationships/image" Target="../media/image2.png"/><Relationship Id="rId5" Type="http://schemas.openxmlformats.org/officeDocument/2006/relationships/chart" Target="../charts/chart3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audio" Target="../media/media5.m4a"/><Relationship Id="rId1" Type="http://schemas.microsoft.com/office/2007/relationships/media" Target="../media/media5.m4a"/><Relationship Id="rId5" Type="http://schemas.openxmlformats.org/officeDocument/2006/relationships/image" Target="../media/image2.png"/><Relationship Id="rId4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75" name="Rectangle 74">
            <a:extLst>
              <a:ext uri="{FF2B5EF4-FFF2-40B4-BE49-F238E27FC236}">
                <a16:creationId xmlns:a16="http://schemas.microsoft.com/office/drawing/2014/main" id="{46B9231A-B34B-4A29-A6AC-532E1EE815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6" name="Picture 75" descr="3D stairs design">
            <a:extLst>
              <a:ext uri="{FF2B5EF4-FFF2-40B4-BE49-F238E27FC236}">
                <a16:creationId xmlns:a16="http://schemas.microsoft.com/office/drawing/2014/main" id="{EBA6CED6-BF10-6F7D-73F8-903590C1DE03}"/>
              </a:ext>
            </a:extLst>
          </p:cNvPr>
          <p:cNvPicPr>
            <a:picLocks noChangeAspect="1"/>
          </p:cNvPicPr>
          <p:nvPr/>
        </p:nvPicPr>
        <p:blipFill>
          <a:blip r:embed="rId5">
            <a:alphaModFix amt="40000"/>
          </a:blip>
          <a:srcRect t="20015" b="4986"/>
          <a:stretch>
            <a:fillRect/>
          </a:stretch>
        </p:blipFill>
        <p:spPr>
          <a:xfrm>
            <a:off x="20" y="10827"/>
            <a:ext cx="12191980" cy="6857848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3507F6F0-195F-4A80-43C9-0764D1AB9E2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40080" y="985233"/>
            <a:ext cx="5758628" cy="3355853"/>
          </a:xfrm>
        </p:spPr>
        <p:txBody>
          <a:bodyPr anchor="t">
            <a:normAutofit/>
          </a:bodyPr>
          <a:lstStyle/>
          <a:p>
            <a:r>
              <a:rPr lang="en-IT" sz="6000">
                <a:solidFill>
                  <a:srgbClr val="FFFFFF"/>
                </a:solidFill>
              </a:rPr>
              <a:t>Economic comparison: Italy vs Czechia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56C6758-9A91-8463-C533-4AEDCE854EF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40080" y="5251621"/>
            <a:ext cx="4439920" cy="1104721"/>
          </a:xfrm>
        </p:spPr>
        <p:txBody>
          <a:bodyPr anchor="t">
            <a:normAutofit/>
          </a:bodyPr>
          <a:lstStyle/>
          <a:p>
            <a:r>
              <a:rPr lang="en-IT">
                <a:solidFill>
                  <a:srgbClr val="FFFFFF"/>
                </a:solidFill>
              </a:rPr>
              <a:t>Tommaso Giuffrida</a:t>
            </a:r>
          </a:p>
        </p:txBody>
      </p:sp>
      <p:cxnSp>
        <p:nvCxnSpPr>
          <p:cNvPr id="77" name="Straight Connector 76">
            <a:extLst>
              <a:ext uri="{FF2B5EF4-FFF2-40B4-BE49-F238E27FC236}">
                <a16:creationId xmlns:a16="http://schemas.microsoft.com/office/drawing/2014/main" id="{F0CE0765-E93C-4D37-9D5F-D464EFB10FA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713232" y="4954368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8" name="Audio 27">
            <a:extLst>
              <a:ext uri="{FF2B5EF4-FFF2-40B4-BE49-F238E27FC236}">
                <a16:creationId xmlns:a16="http://schemas.microsoft.com/office/drawing/2014/main" id="{7F1D6CDD-A389-2A83-7CBF-F78DA129D7A8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6"/>
          <a:stretch>
            <a:fillRect/>
          </a:stretch>
        </p:blipFill>
        <p:spPr>
          <a:xfrm>
            <a:off x="11163300" y="5829300"/>
            <a:ext cx="812800" cy="812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1378245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slow" p14:dur="2000" advTm="20042"/>
    </mc:Choice>
    <mc:Fallback xmlns="">
      <p:transition spd="slow" advTm="20042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28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  <p:par>
                                <p:cTn id="7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" dur="7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10" presetClass="entr" presetSubtype="0" fill="hold" grpId="0" nodeType="withEffect">
                                  <p:stCondLst>
                                    <p:cond delay="15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7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13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28"/>
                </p:tgtEl>
              </p:cMediaNode>
            </p:audio>
          </p:childTnLst>
        </p:cTn>
      </p:par>
    </p:tnLst>
    <p:bldLst>
      <p:bldP spid="2" grpId="0"/>
      <p:bldP spid="3" grpId="0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9" name="Rectangle 18">
            <a:extLst>
              <a:ext uri="{FF2B5EF4-FFF2-40B4-BE49-F238E27FC236}">
                <a16:creationId xmlns:a16="http://schemas.microsoft.com/office/drawing/2014/main" id="{063F27BC-7079-4FF7-8F7C-ABC82FA3C24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8EA95E3-262F-3C01-36F6-C34E19DD67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2253" y="914400"/>
            <a:ext cx="3675888" cy="4157931"/>
          </a:xfrm>
        </p:spPr>
        <p:txBody>
          <a:bodyPr anchor="t">
            <a:normAutofit/>
          </a:bodyPr>
          <a:lstStyle/>
          <a:p>
            <a:r>
              <a:rPr lang="en-IT" dirty="0"/>
              <a:t>Unemployment rate higher in Italy, especially among youth.</a:t>
            </a:r>
          </a:p>
        </p:txBody>
      </p: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9B5F4E67-4DB9-8422-13E5-B36FD48EC4D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672253" y="6272784"/>
            <a:ext cx="10847495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AD2FA88B-4218-0B75-4064-6AC605EA392C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323656356"/>
              </p:ext>
            </p:extLst>
          </p:nvPr>
        </p:nvGraphicFramePr>
        <p:xfrm>
          <a:off x="5432612" y="914400"/>
          <a:ext cx="5375383" cy="51054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pic>
        <p:nvPicPr>
          <p:cNvPr id="22" name="Audio 21">
            <a:extLst>
              <a:ext uri="{FF2B5EF4-FFF2-40B4-BE49-F238E27FC236}">
                <a16:creationId xmlns:a16="http://schemas.microsoft.com/office/drawing/2014/main" id="{D5B95CCA-0928-72B3-3782-8EF6E14C3684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6"/>
          <a:stretch>
            <a:fillRect/>
          </a:stretch>
        </p:blipFill>
        <p:spPr>
          <a:xfrm>
            <a:off x="11163300" y="5829300"/>
            <a:ext cx="812800" cy="812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48823458"/>
      </p:ext>
    </p:extLst>
  </p:cSld>
  <p:clrMapOvr>
    <a:masterClrMapping/>
  </p:clrMapOvr>
  <p:transition spd="slow" advTm="29095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2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22"/>
                </p:tgtEl>
              </p:cMediaNode>
            </p:audio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8" name="Rectangle 27">
            <a:extLst>
              <a:ext uri="{FF2B5EF4-FFF2-40B4-BE49-F238E27FC236}">
                <a16:creationId xmlns:a16="http://schemas.microsoft.com/office/drawing/2014/main" id="{063F27BC-7079-4FF7-8F7C-ABC82FA3C24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3FCB009-3E25-C08B-6043-D19A1D4FB9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2253" y="914400"/>
            <a:ext cx="3675888" cy="4157931"/>
          </a:xfrm>
        </p:spPr>
        <p:txBody>
          <a:bodyPr anchor="t">
            <a:normAutofit/>
          </a:bodyPr>
          <a:lstStyle/>
          <a:p>
            <a:r>
              <a:rPr lang="en-IT" dirty="0"/>
              <a:t>Poverty intensity higher in Italy.</a:t>
            </a:r>
          </a:p>
        </p:txBody>
      </p: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9B5F4E67-4DB9-8422-13E5-B36FD48EC4D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672253" y="6272784"/>
            <a:ext cx="10847495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A2B4FCB2-3674-3524-647C-0A623564269E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149444123"/>
              </p:ext>
            </p:extLst>
          </p:nvPr>
        </p:nvGraphicFramePr>
        <p:xfrm>
          <a:off x="5432612" y="914400"/>
          <a:ext cx="5375383" cy="51054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pic>
        <p:nvPicPr>
          <p:cNvPr id="8" name="Audio 7">
            <a:extLst>
              <a:ext uri="{FF2B5EF4-FFF2-40B4-BE49-F238E27FC236}">
                <a16:creationId xmlns:a16="http://schemas.microsoft.com/office/drawing/2014/main" id="{3623992D-928C-B645-1BC2-48354ADA9C0B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6"/>
          <a:stretch>
            <a:fillRect/>
          </a:stretch>
        </p:blipFill>
        <p:spPr>
          <a:xfrm>
            <a:off x="11163300" y="5829300"/>
            <a:ext cx="812800" cy="812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37417085"/>
      </p:ext>
    </p:extLst>
  </p:cSld>
  <p:clrMapOvr>
    <a:masterClrMapping/>
  </p:clrMapOvr>
  <p:transition spd="slow" advTm="27008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8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8"/>
                </p:tgtEl>
              </p:cMediaNode>
            </p:audio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063F27BC-7079-4FF7-8F7C-ABC82FA3C24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36ADFB1-F77E-7016-34F0-43BBC3EF4F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2253" y="914400"/>
            <a:ext cx="3675888" cy="4157931"/>
          </a:xfrm>
        </p:spPr>
        <p:txBody>
          <a:bodyPr anchor="t">
            <a:normAutofit/>
          </a:bodyPr>
          <a:lstStyle/>
          <a:p>
            <a:r>
              <a:rPr lang="en-IT" dirty="0"/>
              <a:t>Higher wages in Italy and better ROI in education.</a:t>
            </a: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9B5F4E67-4DB9-8422-13E5-B36FD48EC4D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672253" y="6272784"/>
            <a:ext cx="10847495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7" name="Content Placeholder 3">
            <a:extLst>
              <a:ext uri="{FF2B5EF4-FFF2-40B4-BE49-F238E27FC236}">
                <a16:creationId xmlns:a16="http://schemas.microsoft.com/office/drawing/2014/main" id="{0A3E9BC6-4401-B607-2778-DA03E05F9F76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608910910"/>
              </p:ext>
            </p:extLst>
          </p:nvPr>
        </p:nvGraphicFramePr>
        <p:xfrm>
          <a:off x="5239910" y="914400"/>
          <a:ext cx="5568085" cy="51054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pic>
        <p:nvPicPr>
          <p:cNvPr id="8" name="Audio 7">
            <a:extLst>
              <a:ext uri="{FF2B5EF4-FFF2-40B4-BE49-F238E27FC236}">
                <a16:creationId xmlns:a16="http://schemas.microsoft.com/office/drawing/2014/main" id="{5F9D7540-1A79-915A-AFB6-892C1F01246D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6"/>
          <a:stretch>
            <a:fillRect/>
          </a:stretch>
        </p:blipFill>
        <p:spPr>
          <a:xfrm>
            <a:off x="11163300" y="5829300"/>
            <a:ext cx="812800" cy="812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48598729"/>
      </p:ext>
    </p:extLst>
  </p:cSld>
  <p:clrMapOvr>
    <a:masterClrMapping/>
  </p:clrMapOvr>
  <p:transition spd="slow" advTm="25346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8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8"/>
                </p:tgtEl>
              </p:cMediaNode>
            </p:audio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6553A9-882F-6A77-C15A-CA9C3362F3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T" dirty="0"/>
              <a:t>Summary</a:t>
            </a:r>
          </a:p>
        </p:txBody>
      </p:sp>
      <p:graphicFrame>
        <p:nvGraphicFramePr>
          <p:cNvPr id="6" name="Content Placeholder 5">
            <a:extLst>
              <a:ext uri="{FF2B5EF4-FFF2-40B4-BE49-F238E27FC236}">
                <a16:creationId xmlns:a16="http://schemas.microsoft.com/office/drawing/2014/main" id="{E3DA2624-242E-5436-E4A8-38FD39026F98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47706241"/>
              </p:ext>
            </p:extLst>
          </p:nvPr>
        </p:nvGraphicFramePr>
        <p:xfrm>
          <a:off x="639763" y="2633663"/>
          <a:ext cx="10891836" cy="1483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30612">
                  <a:extLst>
                    <a:ext uri="{9D8B030D-6E8A-4147-A177-3AD203B41FA5}">
                      <a16:colId xmlns:a16="http://schemas.microsoft.com/office/drawing/2014/main" val="2772090785"/>
                    </a:ext>
                  </a:extLst>
                </a:gridCol>
                <a:gridCol w="3630612">
                  <a:extLst>
                    <a:ext uri="{9D8B030D-6E8A-4147-A177-3AD203B41FA5}">
                      <a16:colId xmlns:a16="http://schemas.microsoft.com/office/drawing/2014/main" val="1307068448"/>
                    </a:ext>
                  </a:extLst>
                </a:gridCol>
                <a:gridCol w="3630612">
                  <a:extLst>
                    <a:ext uri="{9D8B030D-6E8A-4147-A177-3AD203B41FA5}">
                      <a16:colId xmlns:a16="http://schemas.microsoft.com/office/drawing/2014/main" val="245187130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IT" dirty="0"/>
                        <a:t>Indicator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T" dirty="0"/>
                        <a:t>Italy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T" dirty="0"/>
                        <a:t>Czechia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209616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T" dirty="0"/>
                        <a:t>Unemployment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T" dirty="0"/>
                        <a:t>High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T" dirty="0"/>
                        <a:t>Low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7680097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T" dirty="0"/>
                        <a:t>Poverty intensity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T" dirty="0"/>
                        <a:t>High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T" dirty="0"/>
                        <a:t>Low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3591082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T" dirty="0"/>
                        <a:t>Wages &amp; returns to education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T" dirty="0"/>
                        <a:t>Higher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T" dirty="0"/>
                        <a:t>Lower but more equal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42031798"/>
                  </a:ext>
                </a:extLst>
              </a:tr>
            </a:tbl>
          </a:graphicData>
        </a:graphic>
      </p:graphicFrame>
      <p:pic>
        <p:nvPicPr>
          <p:cNvPr id="9" name="Audio 8">
            <a:extLst>
              <a:ext uri="{FF2B5EF4-FFF2-40B4-BE49-F238E27FC236}">
                <a16:creationId xmlns:a16="http://schemas.microsoft.com/office/drawing/2014/main" id="{ECF007B5-AA1C-387B-D942-0B264BDDFB24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11163300" y="5829300"/>
            <a:ext cx="812800" cy="812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16523254"/>
      </p:ext>
    </p:extLst>
  </p:cSld>
  <p:clrMapOvr>
    <a:masterClrMapping/>
  </p:clrMapOvr>
  <p:transition spd="slow" advTm="37208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9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9"/>
                </p:tgtEl>
              </p:cMediaNode>
            </p:audio>
          </p:childTnLst>
        </p:cTn>
      </p:par>
    </p:tnLst>
  </p:timing>
</p:sld>
</file>

<file path=ppt/theme/theme1.xml><?xml version="1.0" encoding="utf-8"?>
<a:theme xmlns:a="http://schemas.openxmlformats.org/drawingml/2006/main" name="DashVTI">
  <a:themeElements>
    <a:clrScheme name="Custom 6">
      <a:dk1>
        <a:sysClr val="windowText" lastClr="000000"/>
      </a:dk1>
      <a:lt1>
        <a:sysClr val="window" lastClr="FFFFFF"/>
      </a:lt1>
      <a:dk2>
        <a:srgbClr val="0D1C3B"/>
      </a:dk2>
      <a:lt2>
        <a:srgbClr val="F5F2F9"/>
      </a:lt2>
      <a:accent1>
        <a:srgbClr val="1973EB"/>
      </a:accent1>
      <a:accent2>
        <a:srgbClr val="25C8A2"/>
      </a:accent2>
      <a:accent3>
        <a:srgbClr val="BF8ED1"/>
      </a:accent3>
      <a:accent4>
        <a:srgbClr val="FE733C"/>
      </a:accent4>
      <a:accent5>
        <a:srgbClr val="FE5A5A"/>
      </a:accent5>
      <a:accent6>
        <a:srgbClr val="1AC16E"/>
      </a:accent6>
      <a:hlink>
        <a:srgbClr val="1AC16E"/>
      </a:hlink>
      <a:folHlink>
        <a:srgbClr val="00B0F0"/>
      </a:folHlink>
    </a:clrScheme>
    <a:fontScheme name="grandview display">
      <a:majorFont>
        <a:latin typeface="Grandview Display"/>
        <a:ea typeface=""/>
        <a:cs typeface=""/>
      </a:majorFont>
      <a:minorFont>
        <a:latin typeface="Grandview Display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ashVTI" id="{0A75137F-CDEB-4E94-A788-9D255EBE1B91}" vid="{DE9A6A09-5855-45A3-8E99-4290ED24057C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Madison</Template>
  <TotalTime>1364</TotalTime>
  <Words>445</Words>
  <Application>Microsoft Macintosh PowerPoint</Application>
  <PresentationFormat>Widescreen</PresentationFormat>
  <Paragraphs>43</Paragraphs>
  <Slides>5</Slides>
  <Notes>5</Notes>
  <HiddenSlides>0</HiddenSlides>
  <MMClips>5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9" baseType="lpstr">
      <vt:lpstr>Aptos</vt:lpstr>
      <vt:lpstr>Arial</vt:lpstr>
      <vt:lpstr>Grandview Display</vt:lpstr>
      <vt:lpstr>DashVTI</vt:lpstr>
      <vt:lpstr>Economic comparison: Italy vs Czechia</vt:lpstr>
      <vt:lpstr>Unemployment rate higher in Italy, especially among youth.</vt:lpstr>
      <vt:lpstr>Poverty intensity higher in Italy.</vt:lpstr>
      <vt:lpstr>Higher wages in Italy and better ROI in education.</vt:lpstr>
      <vt:lpstr>Summary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Tommaso Giuffrida</dc:creator>
  <cp:lastModifiedBy>Tommaso Giuffrida</cp:lastModifiedBy>
  <cp:revision>3</cp:revision>
  <dcterms:created xsi:type="dcterms:W3CDTF">2025-11-08T16:03:13Z</dcterms:created>
  <dcterms:modified xsi:type="dcterms:W3CDTF">2025-12-07T13:31:38Z</dcterms:modified>
</cp:coreProperties>
</file>